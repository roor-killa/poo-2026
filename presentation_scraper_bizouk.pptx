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g" ContentType="image/jpe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7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3.xml" ContentType="application/vnd.openxmlformats-officedocument.presentationml.notesSlide+xml"/>
  <Override PartName="/ppt/slideLayouts/slideLayout6.xml" ContentType="application/vnd.openxmlformats-officedocument.presentationml.slideLayout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viewProps.xml" ContentType="application/vnd.openxmlformats-officedocument.presentationml.viewProps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6858000" type="screen4x3"/>
  <p:notesSz cx="6858000" cy="9144000"/>
  <p:defaultTextStyle>
    <a:defPPr>
      <a:defRPr lang="en-US"/>
    </a:defPPr>
    <a:lvl1pPr marL="0" algn="l" defTabSz="4572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58ECDE-4C31-A69D-85AE-7A164A7A9076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BF04B3-C35D-31C9-D5C9-1CDCA0B3C0C9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736D5C-7B45-78C0-E196-FD53B5D233DD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38B1C0-5D93-DECB-77EE-5EDC14A24329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85F857-9881-3B60-B461-F48C583C2995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CCFC59E-942F-661A-3B00-6655782F70B2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EEE051-5D69-29CC-92B8-F8EE3E43D110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ECFA796-BF1C-632F-2F84-1169AB32BA17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F683A2-9320-5D50-FB9C-35B115C51238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DB413-E8D1-B9C9-9832-E747A5387E56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3B6C12-E551-108C-EAA0-20A7A04F2390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5986BC-07AB-0D7B-A73A-50981D8D0C2C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0" type="title" userDrawn="1">
  <p:cSld name="Title Slide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 bwMode="auto">
          <a:xfrm>
            <a:off x="1631031" y="1340767"/>
            <a:ext cx="5965303" cy="3744415"/>
          </a:xfrm>
          <a:prstGeom prst="rect">
            <a:avLst/>
          </a:prstGeom>
          <a:noFill/>
          <a:ln w="22225">
            <a:solidFill>
              <a:schemeClr val="bg1">
                <a:alpha val="84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Rectangle 3"/>
          <p:cNvSpPr/>
          <p:nvPr userDrawn="1"/>
        </p:nvSpPr>
        <p:spPr bwMode="auto">
          <a:xfrm>
            <a:off x="1763687" y="1484784"/>
            <a:ext cx="5688631" cy="3456383"/>
          </a:xfrm>
          <a:prstGeom prst="rect">
            <a:avLst/>
          </a:prstGeom>
          <a:solidFill>
            <a:schemeClr val="bg1">
              <a:alpha val="81000"/>
            </a:schemeClr>
          </a:solidFill>
          <a:ln w="22225">
            <a:solidFill>
              <a:schemeClr val="bg1">
                <a:alpha val="84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2123727" y="2132855"/>
            <a:ext cx="4968551" cy="1080119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4000">
                <a:solidFill>
                  <a:schemeClr val="accent3">
                    <a:lumMod val="50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>
            <a:off x="2123727" y="3284983"/>
            <a:ext cx="4968551" cy="1224135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accent3">
                    <a:lumMod val="50000"/>
                  </a:schemeClr>
                </a:solidFill>
                <a:latin typeface="+mn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3" name="Rectangle 12"/>
          <p:cNvSpPr/>
          <p:nvPr userDrawn="1"/>
        </p:nvSpPr>
        <p:spPr bwMode="auto">
          <a:xfrm>
            <a:off x="1475656" y="1188367"/>
            <a:ext cx="6264695" cy="4049215"/>
          </a:xfrm>
          <a:prstGeom prst="rect">
            <a:avLst/>
          </a:prstGeom>
          <a:noFill/>
          <a:ln w="22225">
            <a:solidFill>
              <a:schemeClr val="bg1">
                <a:alpha val="84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Date Placeholder 4"/>
          <p:cNvSpPr>
            <a:spLocks noGrp="1"/>
          </p:cNvSpPr>
          <p:nvPr>
            <p:ph type="dt" sz="half" idx="10"/>
          </p:nvPr>
        </p:nvSpPr>
        <p:spPr bwMode="auto">
          <a:xfrm>
            <a:off x="433535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9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00536" y="6165303"/>
            <a:ext cx="2895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6529536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8" name="Date Placeholder 4"/>
          <p:cNvSpPr>
            <a:spLocks noGrp="1"/>
          </p:cNvSpPr>
          <p:nvPr>
            <p:ph type="dt" sz="half" idx="10"/>
          </p:nvPr>
        </p:nvSpPr>
        <p:spPr bwMode="auto">
          <a:xfrm>
            <a:off x="433535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9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00536" y="6165303"/>
            <a:ext cx="2895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6529536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twoObj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199" y="1600201"/>
            <a:ext cx="4038599" cy="4525962"/>
          </a:xfrm>
        </p:spPr>
        <p:txBody>
          <a:bodyPr/>
          <a:lstStyle>
            <a:lvl1pPr marL="85725" indent="0">
              <a:defRPr sz="2400"/>
            </a:lvl1pPr>
            <a:lvl2pPr marL="85725" indent="0">
              <a:defRPr sz="1600"/>
            </a:lvl2pPr>
            <a:lvl3pPr marL="85725" indent="0">
              <a:defRPr sz="1600"/>
            </a:lvl3pPr>
            <a:lvl4pPr marL="85725" indent="0">
              <a:defRPr sz="1600"/>
            </a:lvl4pPr>
            <a:lvl5pPr marL="85725" indent="0"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 </a:t>
            </a:r>
            <a:r>
              <a:rPr/>
              <a:t>Click to edit Master text styles</a:t>
            </a:r>
            <a:endParaRPr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 bwMode="auto">
          <a:xfrm>
            <a:off x="365760" y="1600200"/>
            <a:ext cx="4041648" cy="4526279"/>
          </a:xfrm>
        </p:spPr>
        <p:txBody>
          <a:bodyPr/>
          <a:lstStyle>
            <a:lvl1pPr marL="0" indent="0" algn="l">
              <a:defRPr/>
            </a:lvl1pPr>
            <a:lvl2pPr marL="0" indent="0" algn="l">
              <a:defRPr/>
            </a:lvl2pPr>
            <a:lvl3pPr marL="0" indent="0" algn="l">
              <a:defRPr/>
            </a:lvl3pPr>
            <a:lvl4pPr marL="0" indent="0" algn="l">
              <a:defRPr/>
            </a:lvl4pPr>
            <a:lvl5pPr marL="0" indent="0" algn="l">
              <a:defRPr/>
            </a:lvl5pPr>
          </a:lstStyle>
          <a:p>
            <a:pPr lvl="0">
              <a:defRPr/>
            </a:pPr>
            <a:r>
              <a:rPr/>
              <a:t> </a:t>
            </a:r>
            <a:r>
              <a:rPr/>
              <a:t>Click to edit Master text styles</a:t>
            </a:r>
            <a:endParaRPr/>
          </a:p>
        </p:txBody>
      </p:sp>
      <p:sp>
        <p:nvSpPr>
          <p:cNvPr id="8" name="Date Placeholder 4"/>
          <p:cNvSpPr>
            <a:spLocks noGrp="1"/>
          </p:cNvSpPr>
          <p:nvPr>
            <p:ph type="dt" sz="half" idx="10"/>
          </p:nvPr>
        </p:nvSpPr>
        <p:spPr bwMode="auto">
          <a:xfrm>
            <a:off x="433535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9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00536" y="6165303"/>
            <a:ext cx="2895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6529536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94767" y="1441375"/>
            <a:ext cx="4040187" cy="653007"/>
          </a:xfrm>
        </p:spPr>
        <p:txBody>
          <a:bodyPr anchor="b">
            <a:noAutofit/>
          </a:bodyPr>
          <a:lstStyle>
            <a:lvl1pPr marL="0" indent="0" algn="l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585767" y="1448779"/>
            <a:ext cx="4126692" cy="645603"/>
          </a:xfrm>
        </p:spPr>
        <p:txBody>
          <a:bodyPr anchor="b">
            <a:noAutofit/>
          </a:bodyPr>
          <a:lstStyle>
            <a:lvl1pPr marL="0" indent="0" algn="l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 bwMode="auto">
          <a:xfrm>
            <a:off x="4617005" y="2276865"/>
            <a:ext cx="4097226" cy="3849170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" name="Content Placeholder 12"/>
          <p:cNvSpPr>
            <a:spLocks noGrp="1"/>
          </p:cNvSpPr>
          <p:nvPr>
            <p:ph sz="quarter" idx="15"/>
          </p:nvPr>
        </p:nvSpPr>
        <p:spPr bwMode="auto">
          <a:xfrm>
            <a:off x="386535" y="2258870"/>
            <a:ext cx="4097226" cy="3849170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" name="Date Placeholder 4"/>
          <p:cNvSpPr>
            <a:spLocks noGrp="1"/>
          </p:cNvSpPr>
          <p:nvPr>
            <p:ph type="dt" sz="half" idx="10"/>
          </p:nvPr>
        </p:nvSpPr>
        <p:spPr bwMode="auto">
          <a:xfrm>
            <a:off x="433535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9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00536" y="6165303"/>
            <a:ext cx="2895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6529536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" name="Date Placeholder 4"/>
          <p:cNvSpPr>
            <a:spLocks noGrp="1"/>
          </p:cNvSpPr>
          <p:nvPr>
            <p:ph type="dt" sz="half" idx="10"/>
          </p:nvPr>
        </p:nvSpPr>
        <p:spPr bwMode="auto">
          <a:xfrm>
            <a:off x="433535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9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00536" y="6165303"/>
            <a:ext cx="2895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6529536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Date Placeholder 4"/>
          <p:cNvSpPr>
            <a:spLocks noGrp="1"/>
          </p:cNvSpPr>
          <p:nvPr>
            <p:ph type="dt" sz="half" idx="10"/>
          </p:nvPr>
        </p:nvSpPr>
        <p:spPr bwMode="auto">
          <a:xfrm>
            <a:off x="433535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9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00536" y="6165303"/>
            <a:ext cx="2895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6529536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055602" y="1412777"/>
            <a:ext cx="5060328" cy="3795246"/>
          </a:xfrm>
          <a:prstGeom prst="rect">
            <a:avLst/>
          </a:prstGeom>
          <a:blipFill>
            <a:blip r:embed="rId2">
              <a:alphaModFix amt="36000"/>
            </a:blip>
            <a:stretch/>
          </a:blipFill>
          <a:ln w="76200">
            <a:solidFill>
              <a:schemeClr val="bg1"/>
            </a:solidFill>
          </a:ln>
          <a:effectLst>
            <a:outerShdw blurRad="88900" dist="50800" dir="5400000" algn="ctr" rotWithShape="0">
              <a:srgbClr val="000000">
                <a:alpha val="25000"/>
              </a:srgbClr>
            </a:outerShdw>
          </a:effectLst>
        </p:spPr>
        <p:txBody>
          <a:bodyPr anchor="ctr" anchorCtr="1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679575" y="5373215"/>
            <a:ext cx="5711823" cy="970434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cxnSp>
        <p:nvCxnSpPr>
          <p:cNvPr id="8" name="Straight Connector 9"/>
          <p:cNvCxnSpPr>
            <a:cxnSpLocks/>
          </p:cNvCxnSpPr>
          <p:nvPr userDrawn="1"/>
        </p:nvCxnSpPr>
        <p:spPr bwMode="auto">
          <a:xfrm>
            <a:off x="13766" y="943135"/>
            <a:ext cx="9144000" cy="1587"/>
          </a:xfrm>
          <a:prstGeom prst="line">
            <a:avLst/>
          </a:prstGeom>
          <a:ln w="15875" cmpd="tri">
            <a:solidFill>
              <a:schemeClr val="tx1"/>
            </a:solidFill>
            <a:prstDash val="sysDot"/>
            <a:headEnd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9"/>
          <p:cNvCxnSpPr>
            <a:cxnSpLocks/>
          </p:cNvCxnSpPr>
          <p:nvPr userDrawn="1"/>
        </p:nvCxnSpPr>
        <p:spPr bwMode="auto">
          <a:xfrm>
            <a:off x="13766" y="979139"/>
            <a:ext cx="9144000" cy="1587"/>
          </a:xfrm>
          <a:prstGeom prst="line">
            <a:avLst/>
          </a:prstGeom>
          <a:ln w="15875" cmpd="tri">
            <a:solidFill>
              <a:schemeClr val="tx1"/>
            </a:solidFill>
            <a:prstDash val="sysDot"/>
            <a:headEnd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>
            <a:spLocks noGrp="1"/>
          </p:cNvSpPr>
          <p:nvPr>
            <p:ph type="title"/>
          </p:nvPr>
        </p:nvSpPr>
        <p:spPr bwMode="auto">
          <a:xfrm>
            <a:off x="457200" y="188640"/>
            <a:ext cx="8229600" cy="864095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" name="Date Placeholder 4"/>
          <p:cNvSpPr>
            <a:spLocks noGrp="1"/>
          </p:cNvSpPr>
          <p:nvPr>
            <p:ph type="dt" sz="half" idx="10"/>
          </p:nvPr>
        </p:nvSpPr>
        <p:spPr bwMode="auto">
          <a:xfrm>
            <a:off x="433535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9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00536" y="6165303"/>
            <a:ext cx="2895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6529536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>
          <a:blip r:embed="rId9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188640"/>
            <a:ext cx="8229600" cy="864095"/>
          </a:xfrm>
          <a:prstGeom prst="rect">
            <a:avLst/>
          </a:prstGeom>
          <a:effectLst/>
        </p:spPr>
        <p:txBody>
          <a:bodyPr vert="horz" lIns="91440" tIns="45720" rIns="91440" bIns="45720" rtlCol="0" anchor="b">
            <a:no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1"/>
            <a:ext cx="82296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" name="Date Placeholder 4"/>
          <p:cNvSpPr>
            <a:spLocks noGrp="1"/>
          </p:cNvSpPr>
          <p:nvPr>
            <p:ph type="dt" sz="half" idx="10"/>
          </p:nvPr>
        </p:nvSpPr>
        <p:spPr bwMode="auto">
          <a:xfrm>
            <a:off x="433535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9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00536" y="6165303"/>
            <a:ext cx="2895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6529536" y="6165303"/>
            <a:ext cx="21335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03636"/>
                </a:solidFill>
              </a:defRPr>
            </a:lvl1pPr>
          </a:lstStyle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 bwMode="auto">
          <a:xfrm>
            <a:off x="0" y="1196751"/>
            <a:ext cx="9144000" cy="1587"/>
          </a:xfrm>
          <a:prstGeom prst="line">
            <a:avLst/>
          </a:prstGeom>
          <a:ln w="15875" cmpd="tri">
            <a:solidFill>
              <a:schemeClr val="bg1"/>
            </a:solidFill>
            <a:prstDash val="sysDot"/>
            <a:headEnd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>
        <a:lnSpc>
          <a:spcPts val="5799"/>
        </a:lnSpc>
        <a:spcBef>
          <a:spcPts val="0"/>
        </a:spcBef>
        <a:buNone/>
        <a:defRPr sz="4000">
          <a:solidFill>
            <a:schemeClr val="bg1"/>
          </a:solidFill>
          <a:latin typeface="+mn-lt"/>
          <a:ea typeface="+mj-ea"/>
          <a:cs typeface="+mj-cs"/>
        </a:defRPr>
      </a:lvl1pPr>
    </p:titleStyle>
    <p:bodyStyle>
      <a:lvl1pPr marL="361949" indent="-361949" algn="l" defTabSz="914400">
        <a:spcBef>
          <a:spcPts val="0"/>
        </a:spcBef>
        <a:buFont typeface="Arial"/>
        <a:buChar char="•"/>
        <a:defRPr sz="2400">
          <a:solidFill>
            <a:schemeClr val="bg2">
              <a:lumMod val="75000"/>
            </a:schemeClr>
          </a:solidFill>
          <a:latin typeface="+mj-lt"/>
          <a:ea typeface="+mn-ea"/>
          <a:cs typeface="+mn-cs"/>
        </a:defRPr>
      </a:lvl1pPr>
      <a:lvl2pPr marL="895349" indent="-361949" algn="l" defTabSz="914400">
        <a:spcBef>
          <a:spcPts val="0"/>
        </a:spcBef>
        <a:buFont typeface="Courier New"/>
        <a:buChar char="o"/>
        <a:defRPr sz="1600">
          <a:solidFill>
            <a:schemeClr val="bg2">
              <a:lumMod val="75000"/>
            </a:schemeClr>
          </a:solidFill>
          <a:latin typeface="+mj-lt"/>
          <a:ea typeface="+mn-ea"/>
          <a:cs typeface="+mn-cs"/>
        </a:defRPr>
      </a:lvl2pPr>
      <a:lvl3pPr marL="1162049" indent="-361949" algn="l" defTabSz="914400">
        <a:spcBef>
          <a:spcPts val="0"/>
        </a:spcBef>
        <a:buFont typeface="Arial"/>
        <a:buChar char="•"/>
        <a:defRPr sz="1600">
          <a:solidFill>
            <a:schemeClr val="bg2">
              <a:lumMod val="75000"/>
            </a:schemeClr>
          </a:solidFill>
          <a:latin typeface="+mj-lt"/>
          <a:ea typeface="+mn-ea"/>
          <a:cs typeface="+mn-cs"/>
        </a:defRPr>
      </a:lvl3pPr>
      <a:lvl4pPr marL="1438274" indent="-361949" algn="l" defTabSz="914400">
        <a:spcBef>
          <a:spcPts val="0"/>
        </a:spcBef>
        <a:buFont typeface="Courier New"/>
        <a:buChar char="o"/>
        <a:defRPr sz="1600">
          <a:solidFill>
            <a:schemeClr val="bg2">
              <a:lumMod val="75000"/>
            </a:schemeClr>
          </a:solidFill>
          <a:latin typeface="+mj-lt"/>
          <a:ea typeface="+mn-ea"/>
          <a:cs typeface="+mn-cs"/>
        </a:defRPr>
      </a:lvl4pPr>
      <a:lvl5pPr marL="1790699" indent="-361949" algn="l" defTabSz="914400">
        <a:spcBef>
          <a:spcPts val="0"/>
        </a:spcBef>
        <a:buFont typeface="Arial"/>
        <a:buChar char="•"/>
        <a:defRPr sz="1600">
          <a:solidFill>
            <a:schemeClr val="bg2">
              <a:lumMod val="75000"/>
            </a:schemeClr>
          </a:solidFill>
          <a:latin typeface="+mj-lt"/>
          <a:ea typeface="+mn-ea"/>
          <a:cs typeface="+mn-cs"/>
        </a:defRPr>
      </a:lvl5pPr>
      <a:lvl6pPr marL="2514599" indent="-228600" algn="l" defTabSz="914400">
        <a:spcBef>
          <a:spcPts val="0"/>
        </a:spcBef>
        <a:buFont typeface="Courier New"/>
        <a:buChar char="o"/>
        <a:defRPr sz="16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6pPr>
      <a:lvl7pPr marL="2971800" indent="-228600" algn="l" defTabSz="914400">
        <a:spcBef>
          <a:spcPts val="0"/>
        </a:spcBef>
        <a:buFont typeface="Arial"/>
        <a:buChar char="•"/>
        <a:defRPr sz="16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7pPr>
      <a:lvl8pPr marL="3429000" indent="-228600" algn="l" defTabSz="914400">
        <a:spcBef>
          <a:spcPts val="0"/>
        </a:spcBef>
        <a:buFont typeface="Courier New"/>
        <a:buChar char="o"/>
        <a:defRPr sz="16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8pPr>
      <a:lvl9pPr marL="3886200" indent="-228600" algn="l" defTabSz="914400">
        <a:spcBef>
          <a:spcPts val="0"/>
        </a:spcBef>
        <a:buFont typeface="Arial"/>
        <a:buChar char="•"/>
        <a:defRPr sz="16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9pPr>
    </p:bodyStyle>
    <p:otherStyle>
      <a:defPPr>
        <a:defRPr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Présentation du projet : Scraper Bizouk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Projet Python de web scraping pour récupérer automatiquement des informations depuis le site Bizouk.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Objectifs :</a:t>
            </a:r>
            <a:endParaRPr/>
          </a:p>
          <a:p>
            <a:pPr>
              <a:defRPr/>
            </a:pPr>
            <a:r>
              <a:rPr/>
              <a:t>- Collecter des entreprises</a:t>
            </a:r>
            <a:endParaRPr/>
          </a:p>
          <a:p>
            <a:pPr>
              <a:defRPr/>
            </a:pPr>
            <a:r>
              <a:rPr/>
              <a:t>- Collecter des articles d'actualité</a:t>
            </a:r>
            <a:endParaRPr/>
          </a:p>
          <a:p>
            <a:pPr>
              <a:defRPr/>
            </a:pPr>
            <a:r>
              <a:rPr/>
              <a:t>- Structurer les données</a:t>
            </a:r>
            <a:endParaRPr/>
          </a:p>
          <a:p>
            <a:pPr>
              <a:defRPr/>
            </a:pPr>
            <a:r>
              <a:rPr/>
              <a:t>- Sauvegarder les résultats en JSON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Architecture du projet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Le projet est organisé en plusieurs fichiers :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- main.py : lance le programme</a:t>
            </a:r>
            <a:endParaRPr/>
          </a:p>
          <a:p>
            <a:pPr>
              <a:defRPr/>
            </a:pPr>
            <a:r>
              <a:rPr/>
              <a:t>- business_scraper.py : récupère les entreprises</a:t>
            </a:r>
            <a:endParaRPr/>
          </a:p>
          <a:p>
            <a:pPr>
              <a:defRPr/>
            </a:pPr>
            <a:r>
              <a:rPr/>
              <a:t>- news_scraper.py : récupère les articles</a:t>
            </a:r>
            <a:endParaRPr/>
          </a:p>
          <a:p>
            <a:pPr>
              <a:defRPr/>
            </a:pPr>
            <a:r>
              <a:rPr/>
              <a:t>- base_scraper.py : fonctions communes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Cette organisation rend le code plus clair et réutilisable.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Le fichier main.py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main.py est le point d'entrée du programme.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Il permet de :</a:t>
            </a:r>
            <a:endParaRPr/>
          </a:p>
          <a:p>
            <a:pPr>
              <a:defRPr/>
            </a:pPr>
            <a:r>
              <a:rPr/>
              <a:t>- créer le scraper</a:t>
            </a:r>
            <a:endParaRPr/>
          </a:p>
          <a:p>
            <a:pPr>
              <a:defRPr/>
            </a:pPr>
            <a:r>
              <a:rPr/>
              <a:t>- lancer le scraping</a:t>
            </a:r>
            <a:endParaRPr/>
          </a:p>
          <a:p>
            <a:pPr>
              <a:defRPr/>
            </a:pPr>
            <a:r>
              <a:rPr/>
              <a:t>- sauvegarder les données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Il orchestre l'exécution du projet.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Business Scraper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Le fichier business_scraper.py récupère les informations des entreprises.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Il analyse le HTML du site pour extraire :</a:t>
            </a:r>
            <a:endParaRPr/>
          </a:p>
          <a:p>
            <a:pPr>
              <a:defRPr/>
            </a:pPr>
            <a:r>
              <a:rPr/>
              <a:t>- nom</a:t>
            </a:r>
            <a:endParaRPr/>
          </a:p>
          <a:p>
            <a:pPr>
              <a:defRPr/>
            </a:pPr>
            <a:r>
              <a:rPr/>
              <a:t>- adresse</a:t>
            </a:r>
            <a:endParaRPr/>
          </a:p>
          <a:p>
            <a:pPr>
              <a:defRPr/>
            </a:pPr>
            <a:r>
              <a:rPr/>
              <a:t>- téléphone</a:t>
            </a:r>
            <a:endParaRPr/>
          </a:p>
          <a:p>
            <a:pPr>
              <a:defRPr/>
            </a:pPr>
            <a:r>
              <a:rPr/>
              <a:t>- email</a:t>
            </a:r>
            <a:endParaRPr/>
          </a:p>
          <a:p>
            <a:pPr>
              <a:defRPr/>
            </a:pPr>
            <a:r>
              <a:rPr/>
              <a:t>- description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Constructeur du scraper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Le constructeur initialise les paramètres du scraper.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Exemple :</a:t>
            </a:r>
            <a:endParaRPr/>
          </a:p>
          <a:p>
            <a:pPr>
              <a:defRPr/>
            </a:pPr>
            <a:r>
              <a:rPr/>
              <a:t>super().__init__(base_url='https://www.bizouk.com', delay=2)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Le délai permet d'éviter de surcharger le serveur et respecte les bonnes pratiques du scraping.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Nettoyage des numéros de téléphone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La fonction clean_phone() normalise les numéros.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Exemple :</a:t>
            </a:r>
            <a:endParaRPr/>
          </a:p>
          <a:p>
            <a:pPr>
              <a:defRPr/>
            </a:pPr>
            <a:r>
              <a:rPr/>
              <a:t>+596 696 12 34 56 → 0596 96 12 34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Étapes :</a:t>
            </a:r>
            <a:endParaRPr/>
          </a:p>
          <a:p>
            <a:pPr>
              <a:defRPr/>
            </a:pPr>
            <a:r>
              <a:rPr/>
              <a:t>- supprimer les caractères non numériques</a:t>
            </a:r>
            <a:endParaRPr/>
          </a:p>
          <a:p>
            <a:pPr>
              <a:defRPr/>
            </a:pPr>
            <a:r>
              <a:rPr/>
              <a:t>- enlever l'indicatif international</a:t>
            </a:r>
            <a:endParaRPr/>
          </a:p>
          <a:p>
            <a:pPr>
              <a:defRPr/>
            </a:pPr>
            <a:r>
              <a:rPr/>
              <a:t>- reformater le numéro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Extraction des emails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La fonction extract_email() utilise une expression régulière (regex).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Elle détecte les emails dans un texte.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Exemples :</a:t>
            </a:r>
            <a:endParaRPr/>
          </a:p>
          <a:p>
            <a:pPr>
              <a:defRPr/>
            </a:pPr>
            <a:r>
              <a:rPr/>
              <a:t>- contact@entreprise.com</a:t>
            </a:r>
            <a:endParaRPr/>
          </a:p>
          <a:p>
            <a:pPr>
              <a:defRPr/>
            </a:pPr>
            <a:r>
              <a:rPr/>
              <a:t>- info@site.fr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Analyse d'une fiche entreprise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La fonction parse_business() extrait les données d'une entreprise.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Les informations sont stockées dans un dictionnaire Python :</a:t>
            </a:r>
            <a:endParaRPr/>
          </a:p>
          <a:p>
            <a:pPr>
              <a:defRPr/>
            </a:pPr>
            <a:r>
              <a:rPr/>
              <a:t>name, address, phone, email, description.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News Scraper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Le fichier news_scraper.py récupère les articles d'actualité.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Il extrait :</a:t>
            </a:r>
            <a:endParaRPr/>
          </a:p>
          <a:p>
            <a:pPr>
              <a:defRPr/>
            </a:pPr>
            <a:r>
              <a:rPr/>
              <a:t>- titre</a:t>
            </a:r>
            <a:endParaRPr/>
          </a:p>
          <a:p>
            <a:pPr>
              <a:defRPr/>
            </a:pPr>
            <a:r>
              <a:rPr/>
              <a:t>- date</a:t>
            </a:r>
            <a:endParaRPr/>
          </a:p>
          <a:p>
            <a:pPr>
              <a:defRPr/>
            </a:pPr>
            <a:r>
              <a:rPr/>
              <a:t>- auteur</a:t>
            </a:r>
            <a:endParaRPr/>
          </a:p>
          <a:p>
            <a:pPr>
              <a:defRPr/>
            </a:pPr>
            <a:r>
              <a:rPr/>
              <a:t>- contenu</a:t>
            </a:r>
            <a:endParaRPr/>
          </a:p>
          <a:p>
            <a:pPr>
              <a:defRPr/>
            </a:pPr>
            <a:r>
              <a:rPr/>
              <a:t>- tags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Scraping de plusieurs pages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Le programme parcourt plusieurs pages du site.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Étapes :</a:t>
            </a:r>
            <a:endParaRPr/>
          </a:p>
          <a:p>
            <a:pPr>
              <a:defRPr/>
            </a:pPr>
            <a:r>
              <a:rPr/>
              <a:t>- construction de l'URL</a:t>
            </a:r>
            <a:endParaRPr/>
          </a:p>
          <a:p>
            <a:pPr>
              <a:defRPr/>
            </a:pPr>
            <a:r>
              <a:rPr/>
              <a:t>- récupération du HTML</a:t>
            </a:r>
            <a:endParaRPr/>
          </a:p>
          <a:p>
            <a:pPr>
              <a:defRPr/>
            </a:pPr>
            <a:r>
              <a:rPr/>
              <a:t>- analyse des articles</a:t>
            </a:r>
            <a:endParaRPr/>
          </a:p>
          <a:p>
            <a:pPr>
              <a:defRPr/>
            </a:pPr>
            <a:r>
              <a:rPr/>
              <a:t>- stockage des résultats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Sauvegarde des données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Les données récupérées sont enregistrées dans un fichier JSON.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Avantages :</a:t>
            </a:r>
            <a:endParaRPr/>
          </a:p>
          <a:p>
            <a:pPr>
              <a:defRPr/>
            </a:pPr>
            <a:r>
              <a:rPr/>
              <a:t>- facile à lire</a:t>
            </a:r>
            <a:endParaRPr/>
          </a:p>
          <a:p>
            <a:pPr>
              <a:defRPr/>
            </a:pPr>
            <a:r>
              <a:rPr/>
              <a:t>- compatible avec de nombreux outils</a:t>
            </a:r>
            <a:endParaRPr/>
          </a:p>
          <a:p>
            <a:pPr>
              <a:defRPr/>
            </a:pPr>
            <a:r>
              <a:rPr/>
              <a:t>- pratique pour l'analyse de données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Conclusion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Ce projet démontre plusieurs compétences :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- Web scraping</a:t>
            </a:r>
            <a:endParaRPr/>
          </a:p>
          <a:p>
            <a:pPr>
              <a:defRPr/>
            </a:pPr>
            <a:r>
              <a:rPr/>
              <a:t>- Python</a:t>
            </a:r>
            <a:endParaRPr/>
          </a:p>
          <a:p>
            <a:pPr>
              <a:defRPr/>
            </a:pPr>
            <a:r>
              <a:rPr/>
              <a:t>- Programmation orientée objet</a:t>
            </a:r>
            <a:endParaRPr/>
          </a:p>
          <a:p>
            <a:pPr>
              <a:defRPr/>
            </a:pPr>
            <a:r>
              <a:rPr/>
              <a:t>- Analyse du HTML</a:t>
            </a:r>
            <a:endParaRPr/>
          </a:p>
          <a:p>
            <a:pPr>
              <a:defRPr/>
            </a:pPr>
            <a:r>
              <a:rPr/>
              <a:t>- Manipulation de données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Relationship Id="rId1" Type="http://schemas.openxmlformats.org/officeDocument/2006/relationships/image" Target="../media/image1.jpg"/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Safari">
  <a:themeElements>
    <a:clrScheme name="Safari">
      <a:dk1>
        <a:sysClr val="windowText" lastClr="000000"/>
      </a:dk1>
      <a:lt1>
        <a:sysClr val="window" lastClr="FFFFFF"/>
      </a:lt1>
      <a:dk2>
        <a:srgbClr val="583109"/>
      </a:dk2>
      <a:lt2>
        <a:srgbClr val="76420D"/>
      </a:lt2>
      <a:accent1>
        <a:srgbClr val="76420D"/>
      </a:accent1>
      <a:accent2>
        <a:srgbClr val="9C5252"/>
      </a:accent2>
      <a:accent3>
        <a:srgbClr val="E68422"/>
      </a:accent3>
      <a:accent4>
        <a:srgbClr val="846648"/>
      </a:accent4>
      <a:accent5>
        <a:srgbClr val="63891F"/>
      </a:accent5>
      <a:accent6>
        <a:srgbClr val="758085"/>
      </a:accent6>
      <a:hlink>
        <a:srgbClr val="3399FF"/>
      </a:hlink>
      <a:folHlink>
        <a:srgbClr val="753D3D"/>
      </a:folHlink>
    </a:clrScheme>
    <a:fontScheme name="Classic">
      <a:majorFont>
        <a:latin typeface="Arial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Executiv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50000">
              <a:schemeClr val="phClr">
                <a:tint val="80000"/>
                <a:satMod val="250000"/>
              </a:schemeClr>
            </a:gs>
            <a:gs pos="76000">
              <a:schemeClr val="phClr">
                <a:tint val="90000"/>
                <a:shade val="90000"/>
                <a:satMod val="200000"/>
              </a:schemeClr>
            </a:gs>
            <a:gs pos="92000">
              <a:schemeClr val="phClr">
                <a:tint val="90000"/>
                <a:shade val="70000"/>
                <a:satMod val="250000"/>
              </a:schemeClr>
            </a:gs>
          </a:gsLst>
          <a:path path="circle"/>
        </a:gradFill>
        <a:blipFill>
          <a:blip r:embed="rId1">
            <a:duotone>
              <a:schemeClr val="phClr">
                <a:tint val="95000"/>
              </a:schemeClr>
              <a:schemeClr val="phClr">
                <a:shade val="90000"/>
              </a:schemeClr>
            </a:duotone>
          </a:blip>
          <a:tile algn="tl" flip="none" sx="100000" sy="100000" tx="0" ty="0"/>
        </a:blip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ONLYOFFICE/8.2.2.22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2026-03-16T21:46:31Z</dcterms:modified>
  <cp:category/>
</cp:coreProperties>
</file>